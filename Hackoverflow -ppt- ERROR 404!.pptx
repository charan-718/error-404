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25" r:id="rId1"/>
  </p:sldMasterIdLst>
  <p:sldIdLst>
    <p:sldId id="256" r:id="rId2"/>
    <p:sldId id="263" r:id="rId3"/>
    <p:sldId id="264" r:id="rId4"/>
    <p:sldId id="265" r:id="rId5"/>
    <p:sldId id="268" r:id="rId6"/>
    <p:sldId id="266" r:id="rId7"/>
    <p:sldId id="267" r:id="rId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CD80"/>
    <a:srgbClr val="F6D798"/>
    <a:srgbClr val="FF7575"/>
    <a:srgbClr val="FF4B4B"/>
    <a:srgbClr val="D4E4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63" autoAdjust="0"/>
    <p:restoredTop sz="94622" autoAdjust="0"/>
  </p:normalViewPr>
  <p:slideViewPr>
    <p:cSldViewPr>
      <p:cViewPr>
        <p:scale>
          <a:sx n="50" d="100"/>
          <a:sy n="50" d="100"/>
        </p:scale>
        <p:origin x="744" y="2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53A22-40AE-F4D1-3AC8-D567D3D427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59A50C-1368-DD87-B0FA-9E6C3F80D6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3D057-18D0-1BA1-AA39-2CF919F43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735AE-4FF9-5E43-6242-A09A3DDC5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8A30D-E9EB-F511-A19E-4E96D0CB4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28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5D4C2-4F50-6577-A218-7DCE12881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D5E1B-2905-7071-0EFC-9BA68A0D9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4528F-A053-F7B9-F695-A96E5D7DF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D3E90-612D-FD1D-CB5D-4083392D5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7012C-C2A8-F7D5-BB47-5020DD664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993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65238-7D77-AA8C-8C0F-18C2A5171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2CA12-FFA0-B15A-4FA5-B380E3F29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8D75C-318B-DE4C-1007-52550AC05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D0E2B-DB04-87E1-88DF-F74B8A7E3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CCBBE-DA1E-C5FB-3450-B0F82FFE0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084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A6457-B596-6B21-13D7-40D2FD927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CCB88-0540-DA40-0178-CCC14908E2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3E33E2-8E5F-2287-3FE9-AACAA0C472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239DAC-87A9-511F-EF18-101F5E241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8CA375-6677-B336-F709-F991092AE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9018E6-0C8B-DB4D-5624-C86ED12E2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203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3B96E-B47D-F40D-6753-9F512EE79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4FD171-CE10-928D-5BFC-CE6D3B188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6AD4F6-E8E9-20B0-ACD8-4859368694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CC0E5C-63F3-8BFC-867A-91CA94CD42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6B3E34-0D48-D5B0-9049-A035FBC0A1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EEF4A7-F592-9FD6-1EF4-D5F5F4683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C2BCC0-5701-CFB9-6C5C-D4526DA6C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9634B-9A7C-5C81-0929-2F1D65257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257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27F91-2B98-E863-CA33-068042214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EE8A2A-AA82-4D43-26BF-CC4CFFE3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127E3C-C26A-69C4-6808-548D5CA6F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165424-BEFF-9F71-F72D-F1FDBC866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919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9EB9E6-0B3E-8BA5-5441-3B3F150DA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40A567-3E25-CF27-2717-75DA8588A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F350C-F337-4350-0DAE-CF0F1D149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181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7E55E-6E14-5478-22EF-EAEF55368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A2922-A6CF-1445-26B3-158EC2F08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049F0C-76F9-E08D-436F-BF4B84BB91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F8C499-D12F-7C29-EC0F-19DB4F73D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C442AA-3362-744C-3E18-F7EC28DDB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37CC7D-3196-85EC-BE85-D2605DEA7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410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0BAC1-DF42-12A3-53EA-51C7A284C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91A1B4-8D95-088C-6CEE-12F125E9D0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A2FDCA-D90B-4180-2207-77CB1816F9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357ABD-A84E-168B-381A-6C50A99A6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E8078-013A-D275-3DEA-18FB6FC77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F1CB69-B0F5-7FAB-A791-48D0FF0A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744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A3C7F-0B18-303C-00C4-C4FDE45E2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32ECD-C965-AFAA-21BB-D0D247DB9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0F26C-36F6-4CF1-AD26-242AD4D7F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5CF14-A5BD-3BE5-EC45-73C56C652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93C95-4977-0DB6-0FCC-FD6C722A4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612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72F353-974C-0059-9429-A135997537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DA7B72-F32E-3E63-F030-25AF46831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436F9E-C112-7A6E-50D8-200399156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8F4B0-DBE2-57B9-E99A-81A0BE650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B79BA-5592-B011-749A-F5CDCE7F5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826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6016CA-C14F-1778-444E-43852216A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745F37-808D-FA1C-A1E9-0605315D9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49B19-104C-C4A2-5599-EAA94549DC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B1078-6DEC-C85F-DD4F-6931352C06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8CF3A-4A88-B356-7538-1569CE51EE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374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microsoft.com/office/2007/relationships/hdphoto" Target="../media/hdphoto1.wdp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chemeClr val="bg1">
                <a:lumMod val="65000"/>
              </a:schemeClr>
            </a:gs>
            <a:gs pos="18000">
              <a:schemeClr val="bg1">
                <a:lumMod val="9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1494453" y="1943100"/>
            <a:ext cx="11154747" cy="857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60"/>
              </a:lnSpc>
            </a:pPr>
            <a:r>
              <a:rPr lang="en-US" sz="4200" b="1" u="sng" spc="450" dirty="0">
                <a:solidFill>
                  <a:srgbClr val="051D40"/>
                </a:solidFill>
                <a:latin typeface="Times New Roman"/>
              </a:rPr>
              <a:t>Basic Details of the Team</a:t>
            </a:r>
            <a:r>
              <a:rPr lang="en-US" sz="4200" b="1" spc="450" dirty="0">
                <a:solidFill>
                  <a:srgbClr val="051D40"/>
                </a:solidFill>
                <a:latin typeface="Times New Roman"/>
              </a:rPr>
              <a:t>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86000" y="9085326"/>
            <a:ext cx="13716000" cy="515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>
                <a:solidFill>
                  <a:srgbClr val="000000"/>
                </a:solidFill>
                <a:latin typeface="Arimo Light"/>
              </a:rPr>
              <a:t>​</a:t>
            </a:r>
          </a:p>
        </p:txBody>
      </p:sp>
      <p:sp>
        <p:nvSpPr>
          <p:cNvPr id="12" name="AutoShape 12"/>
          <p:cNvSpPr/>
          <p:nvPr/>
        </p:nvSpPr>
        <p:spPr>
          <a:xfrm rot="10768818" flipV="1">
            <a:off x="447681" y="9285588"/>
            <a:ext cx="11286940" cy="90658"/>
          </a:xfrm>
          <a:prstGeom prst="line">
            <a:avLst/>
          </a:prstGeom>
          <a:ln w="47625" cap="rnd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Freeform 13"/>
          <p:cNvSpPr/>
          <p:nvPr/>
        </p:nvSpPr>
        <p:spPr>
          <a:xfrm>
            <a:off x="13450533" y="5143498"/>
            <a:ext cx="4218030" cy="1242396"/>
          </a:xfrm>
          <a:custGeom>
            <a:avLst/>
            <a:gdLst/>
            <a:ahLst/>
            <a:cxnLst/>
            <a:rect l="l" t="t" r="r" b="b"/>
            <a:pathLst>
              <a:path w="4218030" h="1242396">
                <a:moveTo>
                  <a:pt x="0" y="0"/>
                </a:moveTo>
                <a:lnTo>
                  <a:pt x="4218030" y="0"/>
                </a:lnTo>
                <a:lnTo>
                  <a:pt x="4218030" y="1242396"/>
                </a:lnTo>
                <a:lnTo>
                  <a:pt x="0" y="12423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279" t="-337146" r="69658" b="337146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981200" y="3290350"/>
            <a:ext cx="16078200" cy="4901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3600" dirty="0">
                <a:solidFill>
                  <a:srgbClr val="051D40"/>
                </a:solidFill>
                <a:latin typeface="Times New Roman"/>
              </a:rPr>
              <a:t>Team Name: ERROR 404! </a:t>
            </a: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  <a:latin typeface="Times New Roman"/>
            </a:endParaRPr>
          </a:p>
          <a:p>
            <a:pPr algn="l">
              <a:lnSpc>
                <a:spcPts val="6480"/>
              </a:lnSpc>
            </a:pPr>
            <a:r>
              <a:rPr lang="en-US" sz="3600" dirty="0">
                <a:solidFill>
                  <a:srgbClr val="051D40"/>
                </a:solidFill>
                <a:latin typeface="Times New Roman"/>
              </a:rPr>
              <a:t>Team Leader Name: Thummu Koushik </a:t>
            </a:r>
          </a:p>
          <a:p>
            <a:pPr algn="l">
              <a:lnSpc>
                <a:spcPts val="6480"/>
              </a:lnSpc>
            </a:pPr>
            <a:r>
              <a:rPr lang="en-US" sz="3600" dirty="0">
                <a:solidFill>
                  <a:srgbClr val="051D40"/>
                </a:solidFill>
                <a:latin typeface="Times New Roman"/>
              </a:rPr>
              <a:t>Team Leader Mobile Number:  7780753835</a:t>
            </a:r>
          </a:p>
          <a:p>
            <a:pPr algn="l">
              <a:lnSpc>
                <a:spcPts val="6480"/>
              </a:lnSpc>
            </a:pPr>
            <a:r>
              <a:rPr lang="en-US" sz="3600" dirty="0">
                <a:solidFill>
                  <a:srgbClr val="051D40"/>
                </a:solidFill>
                <a:latin typeface="Times New Roman"/>
              </a:rPr>
              <a:t>Team Leader Email: koushikt33@gmail.com</a:t>
            </a:r>
          </a:p>
          <a:p>
            <a:pPr algn="l">
              <a:lnSpc>
                <a:spcPts val="6480"/>
              </a:lnSpc>
            </a:pPr>
            <a:r>
              <a:rPr lang="en-US" sz="3600" dirty="0">
                <a:solidFill>
                  <a:srgbClr val="051D40"/>
                </a:solidFill>
                <a:latin typeface="Times New Roman"/>
              </a:rPr>
              <a:t>No of Team Members: 6</a:t>
            </a:r>
          </a:p>
          <a:p>
            <a:pPr algn="l">
              <a:lnSpc>
                <a:spcPts val="6480"/>
              </a:lnSpc>
            </a:pPr>
            <a:r>
              <a:rPr lang="en-US" sz="3600" dirty="0">
                <a:solidFill>
                  <a:srgbClr val="051D40"/>
                </a:solidFill>
                <a:latin typeface="Times New Roman"/>
              </a:rPr>
              <a:t>Institute Name: S R K R Engineering College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904966" y="9721572"/>
            <a:ext cx="418595" cy="519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</a:rPr>
              <a:t>1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65DFA86-B884-F8E3-4CA5-7596A2D444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09700"/>
            <a:ext cx="4136295" cy="43648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54DC47-9AC2-A106-FB52-ABED1DDA66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0" y="-1104900"/>
            <a:ext cx="13716000" cy="57608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chemeClr val="bg1">
                <a:lumMod val="65000"/>
              </a:schemeClr>
            </a:gs>
            <a:gs pos="18000">
              <a:schemeClr val="bg1">
                <a:lumMod val="9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990600" y="1943100"/>
            <a:ext cx="11154747" cy="857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75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sng" strike="noStrike" kern="1200" cap="none" spc="450" normalizeH="0" baseline="0" noProof="0" dirty="0">
                <a:ln>
                  <a:noFill/>
                </a:ln>
                <a:solidFill>
                  <a:srgbClr val="051D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Domain &amp; Problem Statement: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86000" y="9085326"/>
            <a:ext cx="13716000" cy="515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88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 Light"/>
                <a:ea typeface="+mn-ea"/>
                <a:cs typeface="+mn-cs"/>
              </a:rPr>
              <a:t>​</a:t>
            </a:r>
          </a:p>
        </p:txBody>
      </p:sp>
      <p:sp>
        <p:nvSpPr>
          <p:cNvPr id="11" name="AutoShape 11"/>
          <p:cNvSpPr/>
          <p:nvPr/>
        </p:nvSpPr>
        <p:spPr>
          <a:xfrm rot="31132">
            <a:off x="6552443" y="911232"/>
            <a:ext cx="11410468" cy="115420"/>
          </a:xfrm>
          <a:prstGeom prst="line">
            <a:avLst/>
          </a:prstGeom>
          <a:ln w="47625" cap="rnd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 rot="10768818" flipV="1">
            <a:off x="380355" y="9573655"/>
            <a:ext cx="11286940" cy="90658"/>
          </a:xfrm>
          <a:prstGeom prst="line">
            <a:avLst/>
          </a:prstGeom>
          <a:ln w="47625" cap="rnd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452797" y="2933700"/>
            <a:ext cx="12796603" cy="65616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/>
              </a:rPr>
              <a:t>Domain (Technology): </a:t>
            </a:r>
            <a:endParaRPr lang="en-US" sz="4000" b="1" dirty="0">
              <a:latin typeface="Times New Roman"/>
            </a:endParaRPr>
          </a:p>
          <a:p>
            <a:pPr algn="l">
              <a:lnSpc>
                <a:spcPts val="6480"/>
              </a:lnSpc>
            </a:pPr>
            <a:r>
              <a:rPr lang="en-US" sz="3000" dirty="0"/>
              <a:t>Healthcare Technology focuses on IoT, AI, and web development.</a:t>
            </a:r>
            <a:endParaRPr lang="en-US" sz="3000" dirty="0">
              <a:solidFill>
                <a:schemeClr val="tx1">
                  <a:lumMod val="50000"/>
                  <a:lumOff val="50000"/>
                </a:schemeClr>
              </a:solidFill>
              <a:latin typeface="Times New Roman"/>
            </a:endParaRPr>
          </a:p>
          <a:p>
            <a:pPr algn="l">
              <a:lnSpc>
                <a:spcPts val="6480"/>
              </a:lnSpc>
            </a:pPr>
            <a:r>
              <a:rPr lang="en-US" sz="4000" b="1" dirty="0">
                <a:solidFill>
                  <a:srgbClr val="000000"/>
                </a:solidFill>
                <a:latin typeface="Times New Roman"/>
              </a:rPr>
              <a:t>Problem Statement: </a:t>
            </a:r>
            <a:endParaRPr lang="en-US" sz="3000" b="1" dirty="0">
              <a:solidFill>
                <a:srgbClr val="000000"/>
              </a:solidFill>
              <a:latin typeface="Times New Roman"/>
            </a:endParaRPr>
          </a:p>
          <a:p>
            <a:pPr algn="l">
              <a:lnSpc>
                <a:spcPts val="6480"/>
              </a:lnSpc>
            </a:pPr>
            <a:r>
              <a:rPr lang="en-US" sz="3000" b="1" dirty="0"/>
              <a:t>Real-Time Hospital Inventory Management</a:t>
            </a:r>
            <a:r>
              <a:rPr lang="en-US" sz="3000" dirty="0"/>
              <a:t>: Build a system that uses IoT sensors and AI to streamline hospital inventory management. This solution will provide real-time visibility of medical supplies, reduce manual effort, and help healthcare workers quickly locate and restock necessary items, improving operational efficiency.</a:t>
            </a:r>
            <a:endParaRPr lang="en-US" sz="3000" dirty="0">
              <a:solidFill>
                <a:srgbClr val="000000"/>
              </a:solidFill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7904966" y="9721572"/>
            <a:ext cx="418595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2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65DFA86-B884-F8E3-4CA5-7596A2D444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09700"/>
            <a:ext cx="4136295" cy="436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314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chemeClr val="bg1">
                <a:lumMod val="65000"/>
              </a:schemeClr>
            </a:gs>
            <a:gs pos="18000">
              <a:schemeClr val="bg1">
                <a:lumMod val="9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807151" y="1790700"/>
            <a:ext cx="4374449" cy="8391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75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sng" strike="noStrike" kern="1200" cap="none" spc="450" normalizeH="0" baseline="0" noProof="0" dirty="0">
                <a:ln>
                  <a:noFill/>
                </a:ln>
                <a:solidFill>
                  <a:srgbClr val="051D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Idea/Approach:</a:t>
            </a:r>
            <a:endParaRPr kumimoji="0" lang="en-US" sz="4200" b="1" i="0" u="sng" strike="noStrike" kern="1200" cap="none" spc="450" normalizeH="0" baseline="0" noProof="0" dirty="0">
              <a:ln>
                <a:noFill/>
              </a:ln>
              <a:solidFill>
                <a:srgbClr val="051D4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752600" y="3238500"/>
            <a:ext cx="10423703" cy="469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88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 Light"/>
                <a:ea typeface="+mn-ea"/>
                <a:cs typeface="+mn-cs"/>
              </a:rPr>
              <a:t>​</a:t>
            </a:r>
          </a:p>
        </p:txBody>
      </p:sp>
      <p:sp>
        <p:nvSpPr>
          <p:cNvPr id="11" name="AutoShape 11"/>
          <p:cNvSpPr/>
          <p:nvPr/>
        </p:nvSpPr>
        <p:spPr>
          <a:xfrm rot="31132" flipV="1">
            <a:off x="6553587" y="688024"/>
            <a:ext cx="11350992" cy="136882"/>
          </a:xfrm>
          <a:prstGeom prst="line">
            <a:avLst/>
          </a:prstGeom>
          <a:ln w="47625" cap="rnd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 rot="10768818">
            <a:off x="381228" y="9537616"/>
            <a:ext cx="11183234" cy="101440"/>
          </a:xfrm>
          <a:prstGeom prst="line">
            <a:avLst/>
          </a:prstGeom>
          <a:ln w="47625" cap="rnd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7904966" y="9721572"/>
            <a:ext cx="418595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700" dirty="0">
                <a:solidFill>
                  <a:srgbClr val="000000"/>
                </a:solidFill>
                <a:latin typeface="Times New Roman"/>
              </a:rPr>
              <a:t>3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65DFA86-B884-F8E3-4CA5-7596A2D444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09700"/>
            <a:ext cx="4136295" cy="43648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EEA5BE1-4F16-BD7E-6A71-3B378F45632E}"/>
              </a:ext>
            </a:extLst>
          </p:cNvPr>
          <p:cNvSpPr txBox="1"/>
          <p:nvPr/>
        </p:nvSpPr>
        <p:spPr>
          <a:xfrm>
            <a:off x="781914" y="2813600"/>
            <a:ext cx="1012958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To develop a </a:t>
            </a:r>
            <a:r>
              <a:rPr lang="en-US" sz="2800" b="1" dirty="0"/>
              <a:t>responsive, and centralized</a:t>
            </a:r>
            <a:r>
              <a:rPr lang="en-US" sz="2800" dirty="0"/>
              <a:t> hospital inventory management platform with </a:t>
            </a:r>
            <a:r>
              <a:rPr lang="en-US" sz="2800" b="1" dirty="0"/>
              <a:t>real-time tracking, efficient management, and data-driven optimization </a:t>
            </a:r>
            <a:r>
              <a:rPr lang="en-US" sz="2800" dirty="0"/>
              <a:t>of medical supplies, equipment, and patient data interfaces.</a:t>
            </a: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86671C-0117-EA7A-26A4-5BC0F288AA83}"/>
              </a:ext>
            </a:extLst>
          </p:cNvPr>
          <p:cNvSpPr txBox="1"/>
          <p:nvPr/>
        </p:nvSpPr>
        <p:spPr>
          <a:xfrm>
            <a:off x="817807" y="4728081"/>
            <a:ext cx="939299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Employ </a:t>
            </a:r>
            <a:r>
              <a:rPr lang="en-US" sz="2800" b="1" dirty="0"/>
              <a:t>IoT sensors to automate </a:t>
            </a:r>
            <a:r>
              <a:rPr lang="en-US" sz="2800" dirty="0"/>
              <a:t>the real-time tracking and management of medical supply inventory, ensuring accurate stock levels and locations.</a:t>
            </a:r>
          </a:p>
          <a:p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Securely </a:t>
            </a:r>
            <a:r>
              <a:rPr lang="en-US" sz="2800" b="1" dirty="0"/>
              <a:t>store and manage patient data</a:t>
            </a:r>
            <a:r>
              <a:rPr lang="en-US" sz="2800" dirty="0"/>
              <a:t>, including medical history, current medications, and treatment plans, within a centralized patient information system.</a:t>
            </a:r>
          </a:p>
          <a:p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dirty="0"/>
              <a:t>Implement a </a:t>
            </a:r>
            <a:r>
              <a:rPr lang="en-US" sz="2800" b="1" dirty="0"/>
              <a:t>real-time tracking </a:t>
            </a:r>
            <a:r>
              <a:rPr lang="en-US" sz="2800" dirty="0"/>
              <a:t>of equipment locations, availability, and operational status, as reported by operators.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0D95EF-024C-EDFB-081A-847C45ABD9F1}"/>
              </a:ext>
            </a:extLst>
          </p:cNvPr>
          <p:cNvSpPr txBox="1"/>
          <p:nvPr/>
        </p:nvSpPr>
        <p:spPr>
          <a:xfrm>
            <a:off x="9979097" y="2406411"/>
            <a:ext cx="83444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FLOW ARCHITECTURE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FF78EA-619A-1A8F-254B-37DA389D3503}"/>
              </a:ext>
            </a:extLst>
          </p:cNvPr>
          <p:cNvSpPr/>
          <p:nvPr/>
        </p:nvSpPr>
        <p:spPr>
          <a:xfrm>
            <a:off x="10391936" y="2955195"/>
            <a:ext cx="7667207" cy="620242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092D1A-7B09-4788-C9EE-40C906BAC3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5" t="3215" b="3323"/>
          <a:stretch/>
        </p:blipFill>
        <p:spPr>
          <a:xfrm>
            <a:off x="10367861" y="3061984"/>
            <a:ext cx="7934753" cy="6067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821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chemeClr val="bg1">
                <a:lumMod val="65000"/>
              </a:schemeClr>
            </a:gs>
            <a:gs pos="18000">
              <a:schemeClr val="bg1">
                <a:lumMod val="9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977860" y="1714500"/>
            <a:ext cx="11154747" cy="1831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75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sng" strike="noStrike" kern="1200" cap="none" spc="450" normalizeH="0" baseline="0" noProof="0" dirty="0">
                <a:ln>
                  <a:noFill/>
                </a:ln>
                <a:solidFill>
                  <a:srgbClr val="051D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Objective &amp; Scope of Solution:</a:t>
            </a:r>
          </a:p>
          <a:p>
            <a:pPr marL="0" marR="0" lvl="0" indent="0" algn="l" defTabSz="914400" rtl="0" eaLnBrk="1" fontAlgn="auto" latinLnBrk="0" hangingPunct="1">
              <a:lnSpc>
                <a:spcPts val="75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200" b="1" i="0" u="sng" strike="noStrike" kern="1200" cap="none" spc="450" normalizeH="0" baseline="0" noProof="0" dirty="0">
              <a:ln>
                <a:noFill/>
              </a:ln>
              <a:solidFill>
                <a:srgbClr val="051D4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286000" y="9085326"/>
            <a:ext cx="13716000" cy="515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88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 Light"/>
                <a:ea typeface="+mn-ea"/>
                <a:cs typeface="+mn-cs"/>
              </a:rPr>
              <a:t>​</a:t>
            </a:r>
          </a:p>
        </p:txBody>
      </p:sp>
      <p:sp>
        <p:nvSpPr>
          <p:cNvPr id="11" name="AutoShape 11"/>
          <p:cNvSpPr/>
          <p:nvPr/>
        </p:nvSpPr>
        <p:spPr>
          <a:xfrm rot="31132" flipV="1">
            <a:off x="6555391" y="699097"/>
            <a:ext cx="11351452" cy="86069"/>
          </a:xfrm>
          <a:prstGeom prst="line">
            <a:avLst/>
          </a:prstGeom>
          <a:ln w="47625" cap="rnd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 rot="10768818">
            <a:off x="381228" y="9563344"/>
            <a:ext cx="11183234" cy="101440"/>
          </a:xfrm>
          <a:prstGeom prst="line">
            <a:avLst/>
          </a:prstGeom>
          <a:ln w="47625" cap="rnd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681397" y="3390900"/>
            <a:ext cx="12796603" cy="5346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6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6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6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6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7904966" y="9721572"/>
            <a:ext cx="418595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700" dirty="0">
                <a:solidFill>
                  <a:srgbClr val="000000"/>
                </a:solidFill>
                <a:latin typeface="Times New Roman"/>
              </a:rPr>
              <a:t>4</a:t>
            </a:r>
            <a:endParaRPr kumimoji="0" lang="en-US" sz="2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65DFA86-B884-F8E3-4CA5-7596A2D444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09700"/>
            <a:ext cx="4136295" cy="436489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DD1944F-0D2A-BF05-8079-DB12237405C4}"/>
              </a:ext>
            </a:extLst>
          </p:cNvPr>
          <p:cNvSpPr/>
          <p:nvPr/>
        </p:nvSpPr>
        <p:spPr>
          <a:xfrm>
            <a:off x="977859" y="2955195"/>
            <a:ext cx="8350691" cy="636883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8C8895-663B-25CE-E442-A5671272110A}"/>
              </a:ext>
            </a:extLst>
          </p:cNvPr>
          <p:cNvSpPr/>
          <p:nvPr/>
        </p:nvSpPr>
        <p:spPr>
          <a:xfrm>
            <a:off x="9529694" y="3339524"/>
            <a:ext cx="8350691" cy="56049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6C67B8-B6D5-43C1-C9B9-1FE057D03023}"/>
              </a:ext>
            </a:extLst>
          </p:cNvPr>
          <p:cNvSpPr txBox="1"/>
          <p:nvPr/>
        </p:nvSpPr>
        <p:spPr>
          <a:xfrm>
            <a:off x="1066800" y="3009900"/>
            <a:ext cx="7924800" cy="689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/>
              <a:t>OBJECTIVE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 </a:t>
            </a:r>
            <a:r>
              <a:rPr lang="en-US" sz="3200" b="1" dirty="0"/>
              <a:t>Employ IoT sensors </a:t>
            </a:r>
            <a:r>
              <a:rPr lang="en-US" sz="3200" dirty="0"/>
              <a:t>for optimized resource allocation and improved operational efficiency.</a:t>
            </a:r>
          </a:p>
          <a:p>
            <a:endParaRPr lang="en-US" sz="16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Streamline operations by </a:t>
            </a:r>
            <a:r>
              <a:rPr lang="en-US" sz="3200" b="1" dirty="0"/>
              <a:t>reducing manual tasks</a:t>
            </a:r>
            <a:r>
              <a:rPr lang="en-US" sz="3200" dirty="0"/>
              <a:t> and enabling rapid location of supplies.</a:t>
            </a:r>
          </a:p>
          <a:p>
            <a:endParaRPr lang="en-US" sz="1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Optimize equipment usage </a:t>
            </a:r>
            <a:r>
              <a:rPr lang="en-US" sz="3200" dirty="0"/>
              <a:t>to maximize efficiency and minimize downtime.</a:t>
            </a:r>
          </a:p>
          <a:p>
            <a:endParaRPr lang="en-US" sz="1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Prioritize patient care </a:t>
            </a:r>
            <a:r>
              <a:rPr lang="en-US" sz="3200" dirty="0"/>
              <a:t>through automated processes and streamlined workflows.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17C443-4075-2EB8-2405-52C460237F7E}"/>
              </a:ext>
            </a:extLst>
          </p:cNvPr>
          <p:cNvSpPr txBox="1"/>
          <p:nvPr/>
        </p:nvSpPr>
        <p:spPr>
          <a:xfrm>
            <a:off x="9677400" y="3543300"/>
            <a:ext cx="80772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/>
              <a:t>SCOPE OF SOLUTION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/>
              <a:t>Automated alerts </a:t>
            </a:r>
            <a:r>
              <a:rPr lang="en-US" sz="3200" dirty="0"/>
              <a:t>for stock depletion, nearing expiry dates, and abnormal usage patterns.</a:t>
            </a:r>
            <a:endParaRPr lang="en-IN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Use patient data (e.g., allergies, medical history) to </a:t>
            </a:r>
            <a:r>
              <a:rPr lang="en-US" sz="3200" b="1" dirty="0"/>
              <a:t>ensure that appropriate supplies</a:t>
            </a:r>
            <a:r>
              <a:rPr lang="en-US" sz="3200" dirty="0"/>
              <a:t> are allocated to each patient.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Identify </a:t>
            </a:r>
            <a:r>
              <a:rPr lang="en-US" sz="3200" b="1" dirty="0"/>
              <a:t>equipment performance issues </a:t>
            </a:r>
            <a:r>
              <a:rPr lang="en-US" sz="3200" dirty="0"/>
              <a:t>or </a:t>
            </a:r>
            <a:r>
              <a:rPr lang="en-US" sz="3200" b="1" dirty="0"/>
              <a:t>malfunctions</a:t>
            </a:r>
            <a:r>
              <a:rPr lang="en-US" sz="3200" dirty="0"/>
              <a:t> in real time.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968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chemeClr val="bg1">
                <a:lumMod val="65000"/>
              </a:schemeClr>
            </a:gs>
            <a:gs pos="18000">
              <a:schemeClr val="bg1">
                <a:lumMod val="9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990600" y="1714500"/>
            <a:ext cx="11154747" cy="857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75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200" b="1" u="sng" spc="450" dirty="0">
                <a:solidFill>
                  <a:srgbClr val="051D40"/>
                </a:solidFill>
                <a:latin typeface="Times New Roman"/>
              </a:rPr>
              <a:t>Potential challenges and risks</a:t>
            </a:r>
            <a:endParaRPr kumimoji="0" lang="en-US" sz="4200" b="1" i="0" u="sng" strike="noStrike" kern="1200" cap="none" spc="450" normalizeH="0" baseline="0" noProof="0" dirty="0">
              <a:ln>
                <a:noFill/>
              </a:ln>
              <a:solidFill>
                <a:srgbClr val="051D4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286000" y="9085326"/>
            <a:ext cx="13716000" cy="515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88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 Light"/>
                <a:ea typeface="+mn-ea"/>
                <a:cs typeface="+mn-cs"/>
              </a:rPr>
              <a:t>​</a:t>
            </a:r>
          </a:p>
        </p:txBody>
      </p:sp>
      <p:sp>
        <p:nvSpPr>
          <p:cNvPr id="11" name="AutoShape 11"/>
          <p:cNvSpPr/>
          <p:nvPr/>
        </p:nvSpPr>
        <p:spPr>
          <a:xfrm rot="31132" flipV="1">
            <a:off x="6477158" y="699451"/>
            <a:ext cx="11429683" cy="86777"/>
          </a:xfrm>
          <a:prstGeom prst="line">
            <a:avLst/>
          </a:prstGeom>
          <a:ln w="47625" cap="rnd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 rot="10768818">
            <a:off x="381228" y="9563738"/>
            <a:ext cx="11154290" cy="101177"/>
          </a:xfrm>
          <a:prstGeom prst="line">
            <a:avLst/>
          </a:prstGeom>
          <a:ln w="47625" cap="rnd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681397" y="3390900"/>
            <a:ext cx="12796603" cy="5346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6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6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6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6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5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65DFA86-B884-F8E3-4CA5-7596A2D444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09700"/>
            <a:ext cx="4136295" cy="43648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ECD9C00-E470-B396-949E-E1F640019B64}"/>
              </a:ext>
            </a:extLst>
          </p:cNvPr>
          <p:cNvSpPr txBox="1"/>
          <p:nvPr/>
        </p:nvSpPr>
        <p:spPr>
          <a:xfrm>
            <a:off x="762000" y="2519958"/>
            <a:ext cx="12655741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The accuracy and reliability of </a:t>
            </a:r>
            <a:r>
              <a:rPr lang="en-US" sz="3200" b="1" dirty="0"/>
              <a:t>IoT sensors</a:t>
            </a:r>
            <a:r>
              <a:rPr lang="en-US" sz="3200" dirty="0"/>
              <a:t> can be affected by factors like aging and </a:t>
            </a:r>
            <a:r>
              <a:rPr lang="en-US" sz="3200" b="1" dirty="0"/>
              <a:t>faulty sensors</a:t>
            </a:r>
            <a:r>
              <a:rPr lang="en-US" sz="3200" dirty="0"/>
              <a:t>.</a:t>
            </a:r>
          </a:p>
          <a:p>
            <a:endParaRPr lang="en-US" sz="11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Equipment failures can result in </a:t>
            </a:r>
            <a:r>
              <a:rPr lang="en-US" sz="3200" b="1" dirty="0"/>
              <a:t>operational disruptions</a:t>
            </a:r>
            <a:r>
              <a:rPr lang="en-US" sz="3200" dirty="0"/>
              <a:t> and delays in patient care.</a:t>
            </a:r>
          </a:p>
          <a:p>
            <a:endParaRPr lang="en-US" sz="11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Protecting sensitive patient and inventory data from </a:t>
            </a:r>
            <a:r>
              <a:rPr lang="en-US" sz="3200" b="1" dirty="0"/>
              <a:t>unauthorized access</a:t>
            </a:r>
            <a:r>
              <a:rPr lang="en-US" sz="3200" dirty="0"/>
              <a:t> is a critical concern.</a:t>
            </a:r>
            <a:endParaRPr lang="en-IN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D255B9-10AA-F04F-0935-7B21F1AACBF6}"/>
              </a:ext>
            </a:extLst>
          </p:cNvPr>
          <p:cNvSpPr txBox="1"/>
          <p:nvPr/>
        </p:nvSpPr>
        <p:spPr>
          <a:xfrm>
            <a:off x="838200" y="5905500"/>
            <a:ext cx="13639800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200" b="1" u="sng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Strategies for tackling challenges</a:t>
            </a:r>
          </a:p>
          <a:p>
            <a:endParaRPr lang="en-US" sz="1200" u="sng" spc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Regularly </a:t>
            </a:r>
            <a:r>
              <a:rPr lang="en-US" sz="3200" b="1" dirty="0"/>
              <a:t>inspect sensors </a:t>
            </a:r>
            <a:r>
              <a:rPr lang="en-US" sz="3200" dirty="0"/>
              <a:t>to identify anomalies and ensure accurate data collection.</a:t>
            </a:r>
          </a:p>
          <a:p>
            <a:endParaRPr lang="en-US" sz="11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Conduct </a:t>
            </a:r>
            <a:r>
              <a:rPr lang="en-US" sz="3200" b="1" dirty="0"/>
              <a:t>regular maintenance </a:t>
            </a:r>
            <a:r>
              <a:rPr lang="en-US" sz="3200" dirty="0"/>
              <a:t>and updates to prevent equipment failures.</a:t>
            </a:r>
          </a:p>
          <a:p>
            <a:endParaRPr lang="en-US" sz="11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Use </a:t>
            </a:r>
            <a:r>
              <a:rPr lang="en-US" sz="3200" b="1" dirty="0"/>
              <a:t>secure access codes</a:t>
            </a:r>
            <a:r>
              <a:rPr lang="en-US" sz="3200" dirty="0"/>
              <a:t> to limit data access and management to authorized staff.</a:t>
            </a:r>
            <a:endParaRPr lang="en-US" sz="3200" u="sng" spc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3FB39C-2E84-1616-DE0A-AA68DCC1B80A}"/>
              </a:ext>
            </a:extLst>
          </p:cNvPr>
          <p:cNvSpPr/>
          <p:nvPr/>
        </p:nvSpPr>
        <p:spPr>
          <a:xfrm>
            <a:off x="14050349" y="1901694"/>
            <a:ext cx="3724799" cy="76114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028" name="Picture 4" descr="Sensor ">
            <a:extLst>
              <a:ext uri="{FF2B5EF4-FFF2-40B4-BE49-F238E27FC236}">
                <a16:creationId xmlns:a16="http://schemas.microsoft.com/office/drawing/2014/main" id="{FC54FD16-91E8-2B85-B2D7-CDE4F3482C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3756" y="2905112"/>
            <a:ext cx="900148" cy="900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B2CFE4B-3F26-1A48-DBA6-B9A66DBE2152}"/>
              </a:ext>
            </a:extLst>
          </p:cNvPr>
          <p:cNvCxnSpPr>
            <a:cxnSpLocks/>
          </p:cNvCxnSpPr>
          <p:nvPr/>
        </p:nvCxnSpPr>
        <p:spPr>
          <a:xfrm flipV="1">
            <a:off x="14433756" y="2750650"/>
            <a:ext cx="863346" cy="105935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343DA88E-FEC1-F973-D0D4-829E951569A6}"/>
              </a:ext>
            </a:extLst>
          </p:cNvPr>
          <p:cNvSpPr/>
          <p:nvPr/>
        </p:nvSpPr>
        <p:spPr>
          <a:xfrm>
            <a:off x="15773400" y="3280325"/>
            <a:ext cx="398704" cy="186775"/>
          </a:xfrm>
          <a:prstGeom prst="rightArrow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30" name="Picture 6" descr="Engine ">
            <a:extLst>
              <a:ext uri="{FF2B5EF4-FFF2-40B4-BE49-F238E27FC236}">
                <a16:creationId xmlns:a16="http://schemas.microsoft.com/office/drawing/2014/main" id="{046920CE-E4C6-DCF6-DB0F-BA8B0CD3A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59200" y="2857221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onstruction ">
            <a:extLst>
              <a:ext uri="{FF2B5EF4-FFF2-40B4-BE49-F238E27FC236}">
                <a16:creationId xmlns:a16="http://schemas.microsoft.com/office/drawing/2014/main" id="{5187BE8C-DA95-93E8-363F-E190206B9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28922" y="506730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Monitoring ">
            <a:extLst>
              <a:ext uri="{FF2B5EF4-FFF2-40B4-BE49-F238E27FC236}">
                <a16:creationId xmlns:a16="http://schemas.microsoft.com/office/drawing/2014/main" id="{41CA8F13-9710-BCC1-2498-D781AF4DC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30600" y="7518485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Breakdown ">
            <a:extLst>
              <a:ext uri="{FF2B5EF4-FFF2-40B4-BE49-F238E27FC236}">
                <a16:creationId xmlns:a16="http://schemas.microsoft.com/office/drawing/2014/main" id="{228CF29F-9F56-ADEA-2B5B-75A14EB83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49400" y="5016691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Arrow: Right 17">
            <a:extLst>
              <a:ext uri="{FF2B5EF4-FFF2-40B4-BE49-F238E27FC236}">
                <a16:creationId xmlns:a16="http://schemas.microsoft.com/office/drawing/2014/main" id="{959A2C4A-0AA8-8A62-BE21-E11AAC78AEE2}"/>
              </a:ext>
            </a:extLst>
          </p:cNvPr>
          <p:cNvSpPr/>
          <p:nvPr/>
        </p:nvSpPr>
        <p:spPr>
          <a:xfrm>
            <a:off x="15697200" y="5601205"/>
            <a:ext cx="398704" cy="186775"/>
          </a:xfrm>
          <a:prstGeom prst="rightArrow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94EDA4CC-6EAE-3C6A-7C63-75D779E80D1A}"/>
              </a:ext>
            </a:extLst>
          </p:cNvPr>
          <p:cNvSpPr/>
          <p:nvPr/>
        </p:nvSpPr>
        <p:spPr>
          <a:xfrm>
            <a:off x="15697200" y="8157125"/>
            <a:ext cx="398704" cy="186775"/>
          </a:xfrm>
          <a:prstGeom prst="rightArrow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38" name="Picture 14" descr="Stealing data ">
            <a:extLst>
              <a:ext uri="{FF2B5EF4-FFF2-40B4-BE49-F238E27FC236}">
                <a16:creationId xmlns:a16="http://schemas.microsoft.com/office/drawing/2014/main" id="{A94C12DE-981E-88CA-4EC1-91650A9B1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12524" y="7534288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1A748DA-22B9-3756-2070-B25B5404C667}"/>
              </a:ext>
            </a:extLst>
          </p:cNvPr>
          <p:cNvSpPr txBox="1"/>
          <p:nvPr/>
        </p:nvSpPr>
        <p:spPr>
          <a:xfrm>
            <a:off x="14153582" y="3935968"/>
            <a:ext cx="1619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Faulty sensors</a:t>
            </a:r>
            <a:endParaRPr lang="en-IN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B80749-D8FE-F2A3-FB8C-DE411AF8109B}"/>
              </a:ext>
            </a:extLst>
          </p:cNvPr>
          <p:cNvSpPr txBox="1"/>
          <p:nvPr/>
        </p:nvSpPr>
        <p:spPr>
          <a:xfrm>
            <a:off x="14106001" y="2095500"/>
            <a:ext cx="37247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u="sng" dirty="0"/>
              <a:t>Problem -   Solution</a:t>
            </a:r>
            <a:endParaRPr lang="en-IN" sz="3000" b="1" u="sng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199B75-00AD-F735-4E34-ED817FDC4EEA}"/>
              </a:ext>
            </a:extLst>
          </p:cNvPr>
          <p:cNvSpPr txBox="1"/>
          <p:nvPr/>
        </p:nvSpPr>
        <p:spPr>
          <a:xfrm>
            <a:off x="16459200" y="3887569"/>
            <a:ext cx="121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Regular inspection</a:t>
            </a:r>
            <a:endParaRPr lang="en-IN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48B2FF-ED7A-E7F7-D108-B01ABD00CE53}"/>
              </a:ext>
            </a:extLst>
          </p:cNvPr>
          <p:cNvSpPr txBox="1"/>
          <p:nvPr/>
        </p:nvSpPr>
        <p:spPr>
          <a:xfrm>
            <a:off x="14097000" y="6325969"/>
            <a:ext cx="15193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Equipment failure</a:t>
            </a:r>
            <a:endParaRPr lang="en-IN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F8270A-4E16-1C2E-C5A2-B8F3CC6CF511}"/>
              </a:ext>
            </a:extLst>
          </p:cNvPr>
          <p:cNvSpPr txBox="1"/>
          <p:nvPr/>
        </p:nvSpPr>
        <p:spPr>
          <a:xfrm>
            <a:off x="16248304" y="6286500"/>
            <a:ext cx="1430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Daily maintenance</a:t>
            </a:r>
            <a:endParaRPr lang="en-IN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BEBD7F-16E0-9348-B788-08CD22906F2D}"/>
              </a:ext>
            </a:extLst>
          </p:cNvPr>
          <p:cNvSpPr txBox="1"/>
          <p:nvPr/>
        </p:nvSpPr>
        <p:spPr>
          <a:xfrm>
            <a:off x="14173200" y="8764369"/>
            <a:ext cx="15193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/>
              <a:t>unauthorized access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0202EC-3A46-9E89-4073-1A49E4204D7C}"/>
              </a:ext>
            </a:extLst>
          </p:cNvPr>
          <p:cNvSpPr txBox="1"/>
          <p:nvPr/>
        </p:nvSpPr>
        <p:spPr>
          <a:xfrm>
            <a:off x="16172104" y="8764369"/>
            <a:ext cx="14300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/>
              <a:t>secured access codes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049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chemeClr val="bg1">
                <a:lumMod val="65000"/>
              </a:schemeClr>
            </a:gs>
            <a:gs pos="18000">
              <a:schemeClr val="bg1">
                <a:lumMod val="9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838200" y="1712162"/>
            <a:ext cx="11154747" cy="857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75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sng" strike="noStrike" kern="1200" cap="none" spc="450" normalizeH="0" baseline="0" noProof="0" dirty="0">
                <a:ln>
                  <a:noFill/>
                </a:ln>
                <a:solidFill>
                  <a:srgbClr val="051D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Resources Required: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86000" y="9085326"/>
            <a:ext cx="13716000" cy="515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88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 Light"/>
                <a:ea typeface="+mn-ea"/>
                <a:cs typeface="+mn-cs"/>
              </a:rPr>
              <a:t>​</a:t>
            </a:r>
          </a:p>
        </p:txBody>
      </p:sp>
      <p:sp>
        <p:nvSpPr>
          <p:cNvPr id="11" name="AutoShape 11"/>
          <p:cNvSpPr/>
          <p:nvPr/>
        </p:nvSpPr>
        <p:spPr>
          <a:xfrm rot="31132">
            <a:off x="6552443" y="1004164"/>
            <a:ext cx="11410468" cy="115420"/>
          </a:xfrm>
          <a:prstGeom prst="line">
            <a:avLst/>
          </a:prstGeom>
          <a:ln w="47625" cap="rnd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 rot="10768818">
            <a:off x="610258" y="9377289"/>
            <a:ext cx="11055735" cy="195324"/>
          </a:xfrm>
          <a:prstGeom prst="line">
            <a:avLst/>
          </a:prstGeom>
          <a:ln w="47625" cap="rnd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7904966" y="9721572"/>
            <a:ext cx="418595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5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65DFA86-B884-F8E3-4CA5-7596A2D444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09700"/>
            <a:ext cx="4136295" cy="43648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8BE5F3-7EFD-0DD8-83F9-AC05F120A806}"/>
              </a:ext>
            </a:extLst>
          </p:cNvPr>
          <p:cNvSpPr txBox="1"/>
          <p:nvPr/>
        </p:nvSpPr>
        <p:spPr>
          <a:xfrm>
            <a:off x="9829629" y="3362285"/>
            <a:ext cx="3915749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Frontend: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HTML, CSS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JavaScript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Bootstrap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r>
              <a:rPr lang="en-IN" sz="3200" b="1" dirty="0"/>
              <a:t>Database: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MongoDB (Atlas)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AEED28-C0D7-82E3-C27A-F13C7075269F}"/>
              </a:ext>
            </a:extLst>
          </p:cNvPr>
          <p:cNvSpPr txBox="1"/>
          <p:nvPr/>
        </p:nvSpPr>
        <p:spPr>
          <a:xfrm>
            <a:off x="1066800" y="3327142"/>
            <a:ext cx="449071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IoT Sensors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200" dirty="0"/>
              <a:t>IR Sensors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200" dirty="0"/>
              <a:t>RFID Sensor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200" dirty="0"/>
              <a:t>DHT11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200" dirty="0"/>
              <a:t>Ultrasonic Sensor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3200" dirty="0"/>
          </a:p>
          <a:p>
            <a:endParaRPr lang="en-IN" sz="3200" dirty="0"/>
          </a:p>
          <a:p>
            <a:r>
              <a:rPr lang="en-IN" sz="3200" b="1" dirty="0"/>
              <a:t>MICROCONTROLLERS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200" dirty="0"/>
              <a:t>ESP32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3200" dirty="0"/>
              <a:t>ESP8266(NODE MCU)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9CA51A-8E04-9DAA-52CE-D503B8C4441E}"/>
              </a:ext>
            </a:extLst>
          </p:cNvPr>
          <p:cNvSpPr txBox="1"/>
          <p:nvPr/>
        </p:nvSpPr>
        <p:spPr>
          <a:xfrm>
            <a:off x="6014713" y="3390900"/>
            <a:ext cx="3352800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Display 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/>
              <a:t>LCD 16 X 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/>
              <a:t>I2C Module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800" dirty="0"/>
          </a:p>
          <a:p>
            <a:endParaRPr lang="en-IN" sz="2800" dirty="0"/>
          </a:p>
          <a:p>
            <a:r>
              <a:rPr lang="en-IN" sz="3200" b="1" dirty="0"/>
              <a:t>SOFTWARE 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/>
              <a:t>Arduino IDE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800" dirty="0"/>
          </a:p>
          <a:p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CPP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2AC989-7CE0-146E-2A0F-0C98943C2C9A}"/>
              </a:ext>
            </a:extLst>
          </p:cNvPr>
          <p:cNvSpPr txBox="1"/>
          <p:nvPr/>
        </p:nvSpPr>
        <p:spPr>
          <a:xfrm>
            <a:off x="14018394" y="3458408"/>
            <a:ext cx="3539836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Backend: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Node.js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Express.js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Mongoose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  <a:p>
            <a:endParaRPr lang="en-IN" sz="2800" dirty="0"/>
          </a:p>
          <a:p>
            <a:r>
              <a:rPr lang="en-IN" sz="3200" b="1" dirty="0"/>
              <a:t>Other :</a:t>
            </a:r>
            <a:endParaRPr lang="en-IN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Twilio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ACC362-6AE1-99C8-BFD1-5F39B918C7A3}"/>
              </a:ext>
            </a:extLst>
          </p:cNvPr>
          <p:cNvSpPr/>
          <p:nvPr/>
        </p:nvSpPr>
        <p:spPr>
          <a:xfrm flipH="1">
            <a:off x="5481313" y="2781300"/>
            <a:ext cx="46649" cy="634212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AC7C8F-2682-FDF3-0B35-7FCBFFD0E52D}"/>
              </a:ext>
            </a:extLst>
          </p:cNvPr>
          <p:cNvSpPr/>
          <p:nvPr/>
        </p:nvSpPr>
        <p:spPr>
          <a:xfrm flipH="1">
            <a:off x="9092264" y="2763774"/>
            <a:ext cx="46649" cy="634212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18410C-48C3-CB90-A7EE-6ADFB52D2387}"/>
              </a:ext>
            </a:extLst>
          </p:cNvPr>
          <p:cNvSpPr/>
          <p:nvPr/>
        </p:nvSpPr>
        <p:spPr>
          <a:xfrm flipH="1">
            <a:off x="13207064" y="2781300"/>
            <a:ext cx="46649" cy="6342126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1832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chemeClr val="bg1">
                <a:lumMod val="65000"/>
              </a:schemeClr>
            </a:gs>
            <a:gs pos="18000">
              <a:schemeClr val="bg1">
                <a:lumMod val="9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1143000" y="1714500"/>
            <a:ext cx="11154747" cy="857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75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sng" strike="noStrike" kern="1200" cap="none" spc="450" normalizeH="0" baseline="0" noProof="0" dirty="0">
                <a:ln>
                  <a:noFill/>
                </a:ln>
                <a:solidFill>
                  <a:srgbClr val="051D4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Team Member Details: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86000" y="9085326"/>
            <a:ext cx="13716000" cy="515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88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mo Light"/>
                <a:ea typeface="+mn-ea"/>
                <a:cs typeface="+mn-cs"/>
              </a:rPr>
              <a:t>​</a:t>
            </a:r>
          </a:p>
        </p:txBody>
      </p:sp>
      <p:sp>
        <p:nvSpPr>
          <p:cNvPr id="11" name="AutoShape 11"/>
          <p:cNvSpPr/>
          <p:nvPr/>
        </p:nvSpPr>
        <p:spPr>
          <a:xfrm rot="31132">
            <a:off x="6552443" y="911232"/>
            <a:ext cx="11410468" cy="115420"/>
          </a:xfrm>
          <a:prstGeom prst="line">
            <a:avLst/>
          </a:prstGeom>
          <a:ln w="47625" cap="rnd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 rot="10768818">
            <a:off x="381418" y="9376367"/>
            <a:ext cx="11259054" cy="143496"/>
          </a:xfrm>
          <a:prstGeom prst="line">
            <a:avLst/>
          </a:prstGeom>
          <a:ln w="47625" cap="rnd">
            <a:solidFill>
              <a:schemeClr val="tx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95400" y="2705100"/>
            <a:ext cx="7801646" cy="65816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000000"/>
                </a:solidFill>
                <a:latin typeface="Times New Roman"/>
              </a:rPr>
              <a:t>Team Leader Name: Thummu Koushik</a:t>
            </a:r>
          </a:p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000000"/>
                </a:solidFill>
                <a:latin typeface="Times New Roman"/>
              </a:rPr>
              <a:t>Branch: CSE                                                  Year: II</a:t>
            </a:r>
          </a:p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000000"/>
                </a:solidFill>
                <a:latin typeface="Times New Roman"/>
              </a:rPr>
              <a:t>Team Member 1 Name: Javvadi Phaneendra  </a:t>
            </a:r>
          </a:p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000000"/>
                </a:solidFill>
                <a:latin typeface="Times New Roman"/>
              </a:rPr>
              <a:t>Branch: ECE                                                  Year: II</a:t>
            </a:r>
          </a:p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000000"/>
                </a:solidFill>
                <a:latin typeface="Times New Roman"/>
              </a:rPr>
              <a:t>Team Member 2 Name: Barnikani Charan Sai </a:t>
            </a:r>
          </a:p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000000"/>
                </a:solidFill>
                <a:latin typeface="Times New Roman"/>
              </a:rPr>
              <a:t>Branch: AIML                                                 Year: II</a:t>
            </a:r>
          </a:p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000000"/>
                </a:solidFill>
                <a:latin typeface="Times New Roman"/>
              </a:rPr>
              <a:t>Team Member 3 Name: Sarella Archana</a:t>
            </a:r>
          </a:p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000000"/>
                </a:solidFill>
                <a:latin typeface="Times New Roman"/>
              </a:rPr>
              <a:t>Branch: CSE                                                 Year: II</a:t>
            </a:r>
          </a:p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000000"/>
                </a:solidFill>
                <a:latin typeface="Times New Roman"/>
              </a:rPr>
              <a:t>Team Member 4 Name: Uppu Sai Anil</a:t>
            </a:r>
          </a:p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000000"/>
                </a:solidFill>
                <a:latin typeface="Times New Roman"/>
              </a:rPr>
              <a:t>Branch:  CSE                                               Year: II</a:t>
            </a:r>
          </a:p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000000"/>
                </a:solidFill>
                <a:latin typeface="Times New Roman"/>
              </a:rPr>
              <a:t>Team Member 5 Name: Vijjarla Naga Pavan Deep</a:t>
            </a:r>
          </a:p>
          <a:p>
            <a:pPr algn="l">
              <a:lnSpc>
                <a:spcPct val="150000"/>
              </a:lnSpc>
            </a:pPr>
            <a:r>
              <a:rPr lang="en-US" sz="2400" dirty="0">
                <a:solidFill>
                  <a:srgbClr val="000000"/>
                </a:solidFill>
                <a:latin typeface="Times New Roman"/>
              </a:rPr>
              <a:t>Branch: CSE                                                Year: II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904966" y="9721572"/>
            <a:ext cx="418595" cy="410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6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65DFA86-B884-F8E3-4CA5-7596A2D444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09700"/>
            <a:ext cx="4136295" cy="436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797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1512</TotalTime>
  <Words>593</Words>
  <Application>Microsoft Office PowerPoint</Application>
  <PresentationFormat>Custom</PresentationFormat>
  <Paragraphs>129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Wingdings</vt:lpstr>
      <vt:lpstr>Calibri Light</vt:lpstr>
      <vt:lpstr>Arimo Light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ppt 2.pptx</dc:title>
  <dc:creator>kusumanchi srinivas</dc:creator>
  <cp:lastModifiedBy>NAGA PAVAN DEEP VIJJARLA</cp:lastModifiedBy>
  <cp:revision>16</cp:revision>
  <dcterms:created xsi:type="dcterms:W3CDTF">2006-08-16T00:00:00Z</dcterms:created>
  <dcterms:modified xsi:type="dcterms:W3CDTF">2024-10-18T05:00:52Z</dcterms:modified>
  <dc:identifier>DAF5gXvQ44Q</dc:identifier>
</cp:coreProperties>
</file>